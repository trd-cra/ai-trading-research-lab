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0691164" cy="755934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d-cra/AI-Trading-Research-Lab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d-cra/AI-Trading-Research-Lab" TargetMode="External"/><Relationship Id="rId3" Type="http://schemas.openxmlformats.org/officeDocument/2006/relationships/hyperlink" Target="https://www.linkedin.com/in/alex-k-46448175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6217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BF1F7"/>
                </a:solidFill>
                <a:latin typeface="Aptos"/>
              </a:rPr>
              <a:t>AI TRADING RESEARCH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60704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6D3FF"/>
                </a:solidFill>
                <a:latin typeface="Aptos"/>
              </a:rPr>
              <a:t>ATRL — AI-assisted research, automation and experimental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806440" cy="416052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BF1F7"/>
                </a:solidFill>
                <a:latin typeface="Aptos"/>
              </a:rPr>
              <a:t>An engineering research environment for repeatable trading-system experiments.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EBF1F7"/>
                </a:solidFill>
                <a:latin typeface="Aptos"/>
              </a:defRPr>
            </a:pPr>
            <a:r>
              <a:t>• 3 independent research bots with isolated experiment state</a:t>
            </a:r>
          </a:p>
          <a:p>
            <a:pPr>
              <a:spcAft>
                <a:spcPts val="500"/>
              </a:spcAft>
              <a:defRPr sz="1120">
                <a:solidFill>
                  <a:srgbClr val="EBF1F7"/>
                </a:solidFill>
                <a:latin typeface="Aptos"/>
              </a:defRPr>
            </a:pPr>
            <a:r>
              <a:t>• Trade → Backtest → Lookahead → Hyperopt → A/B research</a:t>
            </a:r>
          </a:p>
          <a:p>
            <a:pPr>
              <a:spcAft>
                <a:spcPts val="500"/>
              </a:spcAft>
              <a:defRPr sz="1120">
                <a:solidFill>
                  <a:srgbClr val="EBF1F7"/>
                </a:solidFill>
                <a:latin typeface="Aptos"/>
              </a:defRPr>
            </a:pPr>
            <a:r>
              <a:t>• 30-day primary validation windows with 7/14-day reliability checks</a:t>
            </a:r>
          </a:p>
          <a:p>
            <a:pPr>
              <a:spcAft>
                <a:spcPts val="500"/>
              </a:spcAft>
              <a:defRPr sz="1120">
                <a:solidFill>
                  <a:srgbClr val="EBF1F7"/>
                </a:solidFill>
                <a:latin typeface="Aptos"/>
              </a:defRPr>
            </a:pPr>
            <a:r>
              <a:t>• Checkpoints, resume/recovery, diagnostics and run-state tracking</a:t>
            </a:r>
          </a:p>
          <a:p>
            <a:pPr>
              <a:spcAft>
                <a:spcPts val="500"/>
              </a:spcAft>
              <a:defRPr sz="1120">
                <a:solidFill>
                  <a:srgbClr val="EBF1F7"/>
                </a:solidFill>
                <a:latin typeface="Aptos"/>
              </a:defRPr>
            </a:pPr>
            <a:r>
              <a:t>• Evidence-driven candidate selection instead of single-run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28800"/>
            <a:ext cx="3154680" cy="416052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084831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Research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587752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58775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F1F7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246120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246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F1F7"/>
                </a:solidFill>
                <a:latin typeface="Aptos"/>
              </a:rPr>
              <a:t>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904487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904487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F1F7"/>
                </a:solidFill>
                <a:latin typeface="Aptos"/>
              </a:rPr>
              <a:t>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4562856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562856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F1F7"/>
                </a:solidFill>
                <a:latin typeface="Aptos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5221224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5221224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F1F7"/>
                </a:solidFill>
                <a:latin typeface="Aptos"/>
              </a:rPr>
              <a:t>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553212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A0AEBE"/>
                </a:solidFill>
                <a:latin typeface="Aptos"/>
              </a:rPr>
              <a:t>Public portfolio separates engineering evidence from proprietary strategy implementation.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What the system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The screenshots show a controlled research environment rather than a single trading script.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4343400" cy="16002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ORCHESTRATE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3840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BF1F7"/>
                </a:solidFill>
                <a:latin typeface="Aptos"/>
              </a:rPr>
              <a:t>Start, inspect and coordinate multiple independent research stages.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4343400" cy="16002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6459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17DFF"/>
                </a:solidFill>
                <a:latin typeface="Aptos"/>
              </a:rPr>
              <a:t>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075688"/>
            <a:ext cx="3840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BF1F7"/>
                </a:solidFill>
                <a:latin typeface="Aptos"/>
              </a:rPr>
              <a:t>Run repeatable backtests, lookahead checks, hyperparameter searches and A/B candidates.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37560"/>
            <a:ext cx="4343400" cy="16002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ADA96"/>
                </a:solidFill>
                <a:latin typeface="Aptos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95928"/>
            <a:ext cx="3840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BF1F7"/>
                </a:solidFill>
                <a:latin typeface="Aptos"/>
              </a:rPr>
              <a:t>Compare base vs candidate runs using trades, profit, PF, drawdown and hold duration.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337560"/>
            <a:ext cx="4343400" cy="16002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35661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C552"/>
                </a:solidFill>
                <a:latin typeface="Aptos"/>
              </a:rPr>
              <a:t>RECOVER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995928"/>
            <a:ext cx="3840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BF1F7"/>
                </a:solidFill>
                <a:latin typeface="Aptos"/>
              </a:rPr>
              <a:t>Persist state, checkpoints and diagnostics so long-running research can resume.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349240"/>
            <a:ext cx="9144000" cy="658368"/>
          </a:xfrm>
          <a:prstGeom prst="roundRect">
            <a:avLst/>
          </a:prstGeom>
          <a:solidFill>
            <a:srgbClr val="143731"/>
          </a:solidFill>
          <a:ln>
            <a:solidFill>
              <a:srgbClr val="317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59552"/>
            <a:ext cx="8595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EBF1F7"/>
                </a:solidFill>
                <a:latin typeface="Aptos"/>
              </a:rPr>
              <a:t>Observed UI vocabulary: RUNNING / DONE / SEARCH / REJECTED / BASE / PROSPECT / KEEP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Startup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11-step startup prepares the live panel without restarting current calculations or trading.</a:t>
            </a:r>
          </a:p>
        </p:txBody>
      </p:sp>
      <p:pic>
        <p:nvPicPr>
          <p:cNvPr id="6" name="Picture 5" descr="10_star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4008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50608" y="1298448"/>
            <a:ext cx="3017520" cy="498348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8352" y="157276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What is 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196596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Worker-process state checks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Restart / JSON state checks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Backtest and Hyperopt checkpoint restoration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Storage / log maintenance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Final process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Research execution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Each stage produces evidence consumed by the next stage.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600200" cy="1874519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1051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219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17DFF"/>
                </a:solidFill>
                <a:latin typeface="Aptos"/>
              </a:rPr>
              <a:t>TRADE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70048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EBF1F7"/>
                </a:solidFill>
                <a:latin typeface="Aptos"/>
              </a:rPr>
              <a:t>Live/dry-run execution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1992" y="22402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6D3F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600200"/>
            <a:ext cx="1600200" cy="1874519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4912" y="181051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22219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17DFF"/>
                </a:solidFill>
                <a:latin typeface="Aptos"/>
              </a:rPr>
              <a:t>BACKTEST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2670048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EBF1F7"/>
                </a:solidFill>
                <a:latin typeface="Aptos"/>
              </a:rPr>
              <a:t>Historical performance + drawdown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22402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6D3F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600200"/>
            <a:ext cx="1600200" cy="1874519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81051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2219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17DFF"/>
                </a:solidFill>
                <a:latin typeface="Aptos"/>
              </a:rPr>
              <a:t>LOOKAHEAD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670048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EBF1F7"/>
                </a:solidFill>
                <a:latin typeface="Aptos"/>
              </a:rPr>
              <a:t>Leakage / future-data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22402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6D3F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600200"/>
            <a:ext cx="1600200" cy="1874519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181051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22219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17DFF"/>
                </a:solidFill>
                <a:latin typeface="Aptos"/>
              </a:rPr>
              <a:t>HYPEROPT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2670048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EBF1F7"/>
                </a:solidFill>
                <a:latin typeface="Aptos"/>
              </a:rPr>
              <a:t>Parameter-space exploration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2402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6D3F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1600200"/>
            <a:ext cx="1600200" cy="1874519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2792" y="181051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22219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17DFF"/>
                </a:solidFill>
                <a:latin typeface="Aptos"/>
              </a:rPr>
              <a:t>A/B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2792" y="2670048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EBF1F7"/>
                </a:solidFill>
                <a:latin typeface="Aptos"/>
              </a:rPr>
              <a:t>Controlled candidate comparison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251960"/>
            <a:ext cx="9144000" cy="150876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5079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C552"/>
                </a:solidFill>
                <a:latin typeface="Aptos"/>
              </a:rPr>
              <a:t>Why this matters for QA / ML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64608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EBF1F7"/>
                </a:solidFill>
                <a:latin typeface="Aptos"/>
              </a:defRPr>
            </a:pPr>
            <a:r>
              <a:t>• The system separates generation of candidates from acceptance of candidates.</a:t>
            </a:r>
          </a:p>
          <a:p>
            <a:pPr>
              <a:spcAft>
                <a:spcPts val="500"/>
              </a:spcAft>
              <a:defRPr sz="1030">
                <a:solidFill>
                  <a:srgbClr val="EBF1F7"/>
                </a:solidFill>
                <a:latin typeface="Aptos"/>
              </a:defRPr>
            </a:pPr>
            <a:r>
              <a:t>• Validation uses multiple windows and explicit baseline-vs-candidate evidence.</a:t>
            </a:r>
          </a:p>
          <a:p>
            <a:pPr>
              <a:spcAft>
                <a:spcPts val="500"/>
              </a:spcAft>
              <a:defRPr sz="1030">
                <a:solidFill>
                  <a:srgbClr val="EBF1F7"/>
                </a:solidFill>
                <a:latin typeface="Aptos"/>
              </a:defRPr>
            </a:pPr>
            <a:r>
              <a:t>• Long-running research is treated as a stateful workflow with checkpoints and recovery.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ST1 Control — English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Live overview for FT, FT2 and FT3; one control plane for research state.</a:t>
            </a:r>
          </a:p>
        </p:txBody>
      </p:sp>
      <p:pic>
        <p:nvPicPr>
          <p:cNvPr id="6" name="Picture 5" descr="02_live_en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4008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50608" y="1298448"/>
            <a:ext cx="3017520" cy="498348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8352" y="157276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Main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196596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Trade / Lookahead / Backtest / Hyperopt state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Hyperopt cycle, stage, repeat and latest candidate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30D base→test and 7/14D reliability checks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A/B candidate search and decision state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Diagnostics, Help, Git, Restart and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A/B Tests — isolated candidate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Independent candidate comparison with baseline evidence and explicit decisions.</a:t>
            </a:r>
          </a:p>
        </p:txBody>
      </p:sp>
      <p:pic>
        <p:nvPicPr>
          <p:cNvPr id="6" name="Picture 5" descr="03_ab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4008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50608" y="1298448"/>
            <a:ext cx="3017520" cy="498348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8352" y="157276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Evidence shown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196596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FT / FT2 / FT3 independently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BASE and candidate runs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Trades, profit, PF, DD and hold time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KEEP / PROSPECT / REJECT / BASE outcomes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Run and step traceability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FT3 Backtest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Historical Freqtrade result used as one validation layer.</a:t>
            </a:r>
          </a:p>
        </p:txBody>
      </p:sp>
      <p:pic>
        <p:nvPicPr>
          <p:cNvPr id="6" name="Picture 5" descr="07_ft3_back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4008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50608" y="1298448"/>
            <a:ext cx="3017520" cy="498348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8352" y="157276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Observed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196596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Backtest result table and summary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Trade-level and aggregate metrics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Profit / drawdown / duration fields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Concrete historical validation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Hyperopt: all three 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Parallel Hyperopt progress for FT, FT2 and FT3.</a:t>
            </a:r>
          </a:p>
        </p:txBody>
      </p:sp>
      <p:pic>
        <p:nvPicPr>
          <p:cNvPr id="6" name="Picture 5" descr="01_all_hyp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4008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50608" y="1298448"/>
            <a:ext cx="3017520" cy="498348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8352" y="157276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Research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196596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Separate epoch streams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Best candidates update during the run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Trades, profit, objective and drawdown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Long-running optimization remains observable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Defaults + Hyperopt Carousel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Select FT, FT2, FT3 or all three and restart research from bot defaults.</a:t>
            </a:r>
          </a:p>
        </p:txBody>
      </p:sp>
      <p:pic>
        <p:nvPicPr>
          <p:cNvPr id="6" name="Picture 5" descr="11_default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4008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50608" y="1298448"/>
            <a:ext cx="3017520" cy="498348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8352" y="157276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Operational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196596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All 3 bots can be selected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Trade + Backtest + Lookahead restart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Hyperopt starts as a fresh default carousel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Existing state / checkpoint logs remain enabled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FT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Per-bot lifecycle control and current process state.</a:t>
            </a:r>
          </a:p>
        </p:txBody>
      </p:sp>
      <p:pic>
        <p:nvPicPr>
          <p:cNvPr id="6" name="Picture 5" descr="04_ft_control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4008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50608" y="1298448"/>
            <a:ext cx="3017520" cy="498348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8352" y="157276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Available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196596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Restart Trade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Start / restart Backtest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Start / restart Lookahead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Hyperopt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Stop a mode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Configure and restart the 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FT 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Real Freqtrade startup evidence from the FT Trade window.</a:t>
            </a:r>
          </a:p>
        </p:txBody>
      </p:sp>
      <p:pic>
        <p:nvPicPr>
          <p:cNvPr id="6" name="Picture 5" descr="05_ft_trad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4008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50608" y="1298448"/>
            <a:ext cx="3017520" cy="498348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8352" y="157276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Visible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196596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ST Control launch accepted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Strategy snapshot captured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Freqtrade version shown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Config and runtime log loaded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FT2 Lookahead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Lookahead Analysis result and bias check.</a:t>
            </a:r>
          </a:p>
        </p:txBody>
      </p:sp>
      <p:pic>
        <p:nvPicPr>
          <p:cNvPr id="6" name="Picture 5" descr="06_ft2_look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4008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50608" y="1298448"/>
            <a:ext cx="3017520" cy="498348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8352" y="157276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Validation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196596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Historical data processed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Lookahead analysis executed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Bias result is explicit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CSV evidence is saved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FT Hyperopt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Live Hyperopt result table for the FT research stream.</a:t>
            </a:r>
          </a:p>
        </p:txBody>
      </p:sp>
      <p:pic>
        <p:nvPicPr>
          <p:cNvPr id="6" name="Picture 5" descr="08_ft_hyp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4008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50608" y="1298448"/>
            <a:ext cx="3017520" cy="498348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8352" y="157276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Visible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196596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Epoch and best-so-far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Trades and win/loss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Average profit and total profit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Objective and max drawdown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Resume Hyperopt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Saved Hyperopt series can be inspected and resumed after preflight.</a:t>
            </a:r>
          </a:p>
        </p:txBody>
      </p:sp>
      <p:pic>
        <p:nvPicPr>
          <p:cNvPr id="6" name="Picture 5" descr="09_resum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4008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50608" y="1298448"/>
            <a:ext cx="3017520" cy="498348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8352" y="157276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Recovery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196596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Saved series and next stage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Trades / profit / average time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READY / ACTIVE state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Safe preflight can block unsafe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ST1 Control — Russian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The same live control plane in Russian; demonstrates ENG ↔ RUS localization.</a:t>
            </a:r>
          </a:p>
        </p:txBody>
      </p:sp>
      <p:pic>
        <p:nvPicPr>
          <p:cNvPr id="6" name="Picture 5" descr="12_RUSSIAN_LIVE_PRESER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4008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50608" y="1298448"/>
            <a:ext cx="3017520" cy="498348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8352" y="157276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User-facing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196596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Same FT / FT2 / FT3 control model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Russian operational labels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Diagnostics / Help / Git / A/B controls</a:t>
            </a:r>
          </a:p>
          <a:p>
            <a:pPr>
              <a:spcAft>
                <a:spcPts val="500"/>
              </a:spcAft>
              <a:defRPr sz="1040">
                <a:solidFill>
                  <a:srgbClr val="EBF1F7"/>
                </a:solidFill>
                <a:latin typeface="Aptos"/>
              </a:defRPr>
            </a:pPr>
            <a:r>
              <a:t>• Language switch is part of ST1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Three public-safe strategy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15m LONG research strategies • high-level logic only • proprietary thresholds and scoring excluded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3182112" cy="516636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54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BF1F7"/>
                </a:solidFill>
                <a:latin typeface="Aptos"/>
              </a:rPr>
              <a:t>FT — strategy_btc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476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6D3FF"/>
                </a:solidFill>
                <a:latin typeface="Aptos"/>
              </a:rPr>
              <a:t>15m LONG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31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6D3FF"/>
                </a:solidFill>
                <a:latin typeface="Aptos"/>
              </a:rPr>
              <a:t>Extrema / rebound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2651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• 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54096"/>
            <a:ext cx="2651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• RSI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64991"/>
            <a:ext cx="2651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• StochRSI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75887"/>
            <a:ext cx="2651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• Bollinger Bands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86783"/>
            <a:ext cx="2651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• ATR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3708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A0AEBE"/>
                </a:solidFill>
                <a:latin typeface="Aptos"/>
              </a:rPr>
              <a:t>Trading logic — high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70916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EBF1F7"/>
                </a:solidFill>
                <a:latin typeface="Aptos"/>
              </a:rPr>
              <a:t>Extrema/pivot context is combined with rebound and distance conditions. RSI, StochRSI and Bollinger provide confirmation; ATR supports protection / distance-aware logic.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91616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F5C552"/>
                </a:solidFill>
                <a:latin typeface="Aptos"/>
              </a:rPr>
              <a:t>No proprietary thresholds / weights / exact scoring.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04488" y="1298448"/>
            <a:ext cx="3182112" cy="516636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5656" y="1554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BF1F7"/>
                </a:solidFill>
                <a:latin typeface="Aptos"/>
              </a:rPr>
              <a:t>FT2 — strategy_btc2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05656" y="19476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17DFF"/>
                </a:solidFill>
                <a:latin typeface="Aptos"/>
              </a:rPr>
              <a:t>15m LONG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5656" y="2331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Multi-signal consensus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8808" y="2743200"/>
            <a:ext cx="2651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• RSI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8" y="3054096"/>
            <a:ext cx="2651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• 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808" y="3364991"/>
            <a:ext cx="2651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• ATR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8808" y="3675887"/>
            <a:ext cx="2651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• Bollinger Bands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8808" y="3986783"/>
            <a:ext cx="2651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• ZigZag / extrema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5656" y="43708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A0AEBE"/>
                </a:solidFill>
                <a:latin typeface="Aptos"/>
              </a:rPr>
              <a:t>Trading logic — high 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5656" y="470916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EBF1F7"/>
                </a:solidFill>
                <a:latin typeface="Aptos"/>
              </a:rPr>
              <a:t>Entry can combine extrema, RSI and EMA-stretch signals. Consensus controls independent signal agreement; reclaim paths use Bollinger, extrema distance and ATR gates.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05656" y="591616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F5C552"/>
                </a:solidFill>
                <a:latin typeface="Aptos"/>
              </a:rPr>
              <a:t>No proprietary thresholds / weights / exact scoring.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06056" y="1298448"/>
            <a:ext cx="3182112" cy="516636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1554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BF1F7"/>
                </a:solidFill>
                <a:latin typeface="Aptos"/>
              </a:rPr>
              <a:t>FT3 — strategy_btc3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7224" y="19476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4ADA96"/>
                </a:solidFill>
                <a:latin typeface="Aptos"/>
              </a:rPr>
              <a:t>15m LONG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7224" y="2331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4ADA96"/>
                </a:solidFill>
                <a:latin typeface="Aptos"/>
              </a:rPr>
              <a:t>ZigZag + RSI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0376" y="2743200"/>
            <a:ext cx="2651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• RSI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0376" y="3054096"/>
            <a:ext cx="2651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• ATR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7224" y="43708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A0AEBE"/>
                </a:solidFill>
                <a:latin typeface="Aptos"/>
              </a:rPr>
              <a:t>Trading logic — high level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7224" y="470916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EBF1F7"/>
                </a:solidFill>
                <a:latin typeface="Aptos"/>
              </a:rPr>
              <a:t>ZigZag/extrema is a primary signal component. Entry combines RSI + extrema with ATR-aware gates; exits include peak / RSI-rollover style models.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07224" y="591616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F5C552"/>
                </a:solidFill>
                <a:latin typeface="Aptos"/>
              </a:rPr>
              <a:t>No proprietary thresholds / weights / exact scoring.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QA / validation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The research system applies QA principles to experimental ML/trading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788920" cy="18288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373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36D3FF"/>
                </a:solidFill>
                <a:latin typeface="Aptos"/>
              </a:rPr>
              <a:t>REPRODUCIBILITY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EBF1F7"/>
                </a:solidFill>
                <a:latin typeface="Aptos"/>
              </a:rPr>
              <a:t>Fixed periods, repeat/cycle tracking, explicit baselines and candidate identifiers.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508760"/>
            <a:ext cx="2788920" cy="18288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95928" y="17373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4ADA96"/>
                </a:solidFill>
                <a:latin typeface="Aptos"/>
              </a:rPr>
              <a:t>REGRESSION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5928" y="219456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EBF1F7"/>
                </a:solidFill>
                <a:latin typeface="Aptos"/>
              </a:rPr>
              <a:t>Compare candidate outputs against a known baseline before progression.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508760"/>
            <a:ext cx="2788920" cy="18288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8" y="17373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F5C552"/>
                </a:solidFill>
                <a:latin typeface="Aptos"/>
              </a:rPr>
              <a:t>OBSERVABILITY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219456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EBF1F7"/>
                </a:solidFill>
                <a:latin typeface="Aptos"/>
              </a:rPr>
              <a:t>Process snapshots, logs, diagnostics, stage state and measurable outcomes.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2788920" cy="18288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977639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A17DFF"/>
                </a:solidFill>
                <a:latin typeface="Aptos"/>
              </a:rPr>
              <a:t>FAILURE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434839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EBF1F7"/>
                </a:solidFill>
                <a:latin typeface="Aptos"/>
              </a:rPr>
              <a:t>Inspect rejected candidates, risk-adjusted thresholds and diagnostic windows.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49039"/>
            <a:ext cx="2788920" cy="18288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95928" y="3977639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36D3FF"/>
                </a:solidFill>
                <a:latin typeface="Aptos"/>
              </a:rPr>
              <a:t>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928" y="4434839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EBF1F7"/>
                </a:solidFill>
                <a:latin typeface="Aptos"/>
              </a:rPr>
              <a:t>Checkpoints and resumable execution reduce loss of research progress.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3749039"/>
            <a:ext cx="2788920" cy="18288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0608" y="3977639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4ADA96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4434839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EBF1F7"/>
                </a:solidFill>
                <a:latin typeface="Aptos"/>
              </a:rPr>
              <a:t>Decisions are tied to measured results rather than a single optimization score.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Technologies directly reflected by the project workflow and public portfolio.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788920" cy="20574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566928" cy="384048"/>
          </a:xfrm>
          <a:prstGeom prst="roundRect">
            <a:avLst/>
          </a:prstGeom>
          <a:solidFill>
            <a:srgbClr val="36D3FF"/>
          </a:solidFill>
          <a:ln>
            <a:solidFill>
              <a:srgbClr val="3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F1723"/>
                </a:solidFill>
                <a:latin typeface="Aptos"/>
              </a:rPr>
              <a:t>UBU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459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36D3FF"/>
                </a:solidFill>
                <a:latin typeface="Aptos"/>
              </a:rP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48840"/>
            <a:ext cx="2331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EBF1F7"/>
                </a:solidFill>
                <a:latin typeface="Aptos"/>
              </a:rPr>
              <a:t>Ubuntu / Linux
WSL + Windows host
CLI / terminal workflows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417320"/>
            <a:ext cx="2788920" cy="20574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7640" y="1600200"/>
            <a:ext cx="566928" cy="384048"/>
          </a:xfrm>
          <a:prstGeom prst="roundRect">
            <a:avLst/>
          </a:prstGeom>
          <a:solidFill>
            <a:srgbClr val="A17DFF"/>
          </a:solidFill>
          <a:ln>
            <a:solidFill>
              <a:srgbClr val="A1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40" y="1600200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F1723"/>
                </a:solidFill>
                <a:latin typeface="Aptos"/>
              </a:rPr>
              <a:t>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6459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A17DFF"/>
                </a:solidFill>
                <a:latin typeface="Aptos"/>
              </a:rPr>
              <a:t>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5928" y="2148840"/>
            <a:ext cx="2331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EBF1F7"/>
                </a:solidFill>
                <a:latin typeface="Aptos"/>
              </a:rPr>
              <a:t>Python
Bash
Git / GitHub
GitHub Actions / CI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417320"/>
            <a:ext cx="2788920" cy="20574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0" y="1600200"/>
            <a:ext cx="566928" cy="384048"/>
          </a:xfrm>
          <a:prstGeom prst="roundRect">
            <a:avLst/>
          </a:prstGeom>
          <a:solidFill>
            <a:srgbClr val="4ADA96"/>
          </a:solidFill>
          <a:ln>
            <a:solidFill>
              <a:srgbClr val="4AD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600200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F1723"/>
                </a:solidFill>
                <a:latin typeface="Aptos"/>
              </a:rPr>
              <a:t>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16459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4ADA96"/>
                </a:solidFill>
                <a:latin typeface="Aptos"/>
              </a:rPr>
              <a:t>TRADING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2148840"/>
            <a:ext cx="2331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EBF1F7"/>
                </a:solidFill>
                <a:latin typeface="Aptos"/>
              </a:rPr>
              <a:t>Freqtrade
CCXT
Bybit dry-run
BTC/USDT research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31920"/>
            <a:ext cx="2788920" cy="20574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114800"/>
            <a:ext cx="566928" cy="384048"/>
          </a:xfrm>
          <a:prstGeom prst="roundRect">
            <a:avLst/>
          </a:prstGeom>
          <a:solidFill>
            <a:srgbClr val="F5C552"/>
          </a:solidFill>
          <a:ln>
            <a:solidFill>
              <a:srgbClr val="F5C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F1723"/>
                </a:solidFill>
                <a:latin typeface="Aptos"/>
              </a:rPr>
              <a:t>NP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1605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F5C552"/>
                </a:solidFill>
                <a:latin typeface="Aptos"/>
              </a:rPr>
              <a:t>DATA / SCIENCE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663440"/>
            <a:ext cx="2331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EBF1F7"/>
                </a:solidFill>
                <a:latin typeface="Aptos"/>
              </a:rPr>
              <a:t>Pandas
NumPy
SciPy
Peak / extrema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3931920"/>
            <a:ext cx="2788920" cy="20574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77640" y="4114800"/>
            <a:ext cx="566928" cy="384048"/>
          </a:xfrm>
          <a:prstGeom prst="roundRect">
            <a:avLst/>
          </a:prstGeom>
          <a:solidFill>
            <a:srgbClr val="36D3FF"/>
          </a:solidFill>
          <a:ln>
            <a:solidFill>
              <a:srgbClr val="3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40" y="4114800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F1723"/>
                </a:solidFill>
                <a:latin typeface="Aptos"/>
              </a:rPr>
              <a:t>SIG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1605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36D3FF"/>
                </a:solidFill>
                <a:latin typeface="Aptos"/>
              </a:rPr>
              <a:t>INDICATORS / SIGNALS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95928" y="4663440"/>
            <a:ext cx="2331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EBF1F7"/>
                </a:solidFill>
                <a:latin typeface="Aptos"/>
              </a:rPr>
              <a:t>EMA • RSI • Bollinger Bands
ATR • ZigZag
find_peaks • EMD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3931920"/>
            <a:ext cx="2788920" cy="205740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32320" y="4114800"/>
            <a:ext cx="566928" cy="384048"/>
          </a:xfrm>
          <a:prstGeom prst="roundRect">
            <a:avLst/>
          </a:prstGeom>
          <a:solidFill>
            <a:srgbClr val="A17DFF"/>
          </a:solidFill>
          <a:ln>
            <a:solidFill>
              <a:srgbClr val="A1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4114800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0F1723"/>
                </a:solidFill>
                <a:latin typeface="Aptos"/>
              </a:rPr>
              <a:t>QA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1605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A17DFF"/>
                </a:solidFill>
                <a:latin typeface="Aptos"/>
              </a:rPr>
              <a:t>QA / RESEARCH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4663440"/>
            <a:ext cx="2331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EBF1F7"/>
                </a:solidFill>
                <a:latin typeface="Aptos"/>
              </a:rPr>
              <a:t>Backtesting
Lookahead analysis
Hyperopt
A/B experiments
Holdout / reliability 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Python / data / ML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The portfolio emphasizes engineering around experiments, not only model or strategy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53312"/>
            <a:ext cx="9144000" cy="713232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A17DFF"/>
                </a:solidFill>
                <a:latin typeface="Aptos"/>
              </a:rPr>
              <a:t>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54480"/>
            <a:ext cx="6720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Python + Bash controllers • worker lifecycle • state machines • checkpoints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9424"/>
            <a:ext cx="9144000" cy="713232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50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A17DFF"/>
                </a:solidFill>
                <a:latin typeface="Aptos"/>
              </a:rPr>
              <a:t>DATA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50592"/>
            <a:ext cx="6720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Pandas / NumPy • time-series transforms • feature and indicator computation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45536"/>
            <a:ext cx="9144000" cy="713232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4670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A17DFF"/>
                </a:solidFill>
                <a:latin typeface="Aptos"/>
              </a:rPr>
              <a:t>SIGNAL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46704"/>
            <a:ext cx="6720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SciPy peak/extrema detection • ZigZag • EMD • EMA/RSI/BB/ATR-derived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41648"/>
            <a:ext cx="9144000" cy="713232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24281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A17DFF"/>
                </a:solidFill>
                <a:latin typeface="Aptos"/>
              </a:rPr>
              <a:t>EXPERIMENT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242816"/>
            <a:ext cx="6720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Hyperopt • deterministic runs • repeated candidates • isolated A/B tests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37760"/>
            <a:ext cx="9144000" cy="713232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13892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A17DFF"/>
                </a:solidFill>
                <a:latin typeface="Aptos"/>
              </a:rPr>
              <a:t>VALIDATION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138928"/>
            <a:ext cx="6720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EBF1F7"/>
                </a:solidFill>
                <a:latin typeface="Aptos"/>
              </a:rPr>
              <a:t>Backtest • lookahead • holdout windows • drawdown / PF / duration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Conceptual architecture derived from the control workflow shown in the screenshots.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664208" cy="141732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6D3FF"/>
                </a:solidFill>
                <a:latin typeface="Aptos"/>
              </a:rPr>
              <a:t>CONTROL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EBF1F7"/>
                </a:solidFill>
                <a:latin typeface="Aptos"/>
              </a:rPr>
              <a:t>BOT WORKERS
FT / FT2 / FT3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3704" y="23317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6D3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1828800"/>
            <a:ext cx="1664208" cy="141732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20574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17DFF"/>
                </a:solidFill>
                <a:latin typeface="Aptos"/>
              </a:rPr>
              <a:t>RESEARCH STAGES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251460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EBF1F7"/>
                </a:solidFill>
                <a:latin typeface="Aptos"/>
              </a:rPr>
              <a:t>TRADE / BACKTEST / LOOK / HYP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7096" y="23317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6D3F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9704" y="1828800"/>
            <a:ext cx="1664208" cy="141732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ADA96"/>
                </a:solidFill>
                <a:latin typeface="Aptos"/>
              </a:rPr>
              <a:t>A/B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51460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EBF1F7"/>
                </a:solidFill>
                <a:latin typeface="Aptos"/>
              </a:rPr>
              <a:t>CANDIDATES +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3317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6D3F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3096" y="1828800"/>
            <a:ext cx="1664208" cy="141732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20574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C552"/>
                </a:solidFill>
                <a:latin typeface="Aptos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251460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EBF1F7"/>
                </a:solidFill>
                <a:latin typeface="Aptos"/>
              </a:rPr>
              <a:t>METRICS / LOGS /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3317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6D3FF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76488" y="1828800"/>
            <a:ext cx="1664208" cy="141732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8" y="20574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6D3FF"/>
                </a:solidFill>
                <a:latin typeface="Aptos"/>
              </a:rPr>
              <a:t>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251460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EBF1F7"/>
                </a:solidFill>
                <a:latin typeface="Aptos"/>
              </a:rPr>
              <a:t>CHECKPOINTS / RESUME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160520"/>
            <a:ext cx="8823960" cy="141732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43484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BF1F7"/>
                </a:solidFill>
                <a:latin typeface="Aptos"/>
              </a:rPr>
              <a:t>The key engineering property is separation of control, execution, experiment state and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10235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A0AEBE"/>
                </a:solidFill>
                <a:latin typeface="Aptos"/>
              </a:rPr>
              <a:t>Public repository exposes the engineering story; proprietary strategy implementation and credentials remain private.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Continuous optimization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Cyclic Hyperopt + A/B validation refreshes candidates through repeated research 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1627632" cy="1874519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8308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9456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33472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EBF1F7"/>
                </a:solidFill>
                <a:latin typeface="Aptos"/>
              </a:rPr>
              <a:t>Generate / refresh candidates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22402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6D3F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554480"/>
            <a:ext cx="1627632" cy="1874519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4912" y="178308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219456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OPTIMIZE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2633472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EBF1F7"/>
                </a:solidFill>
                <a:latin typeface="Aptos"/>
              </a:rPr>
              <a:t>Hyperopt carousel explores 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22402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6D3F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554480"/>
            <a:ext cx="1627632" cy="1874519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78308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19456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633472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EBF1F7"/>
                </a:solidFill>
                <a:latin typeface="Aptos"/>
              </a:rPr>
              <a:t>Baseline vs candidate A/B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22402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6D3F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554480"/>
            <a:ext cx="1627632" cy="1874519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178308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219456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2633472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EBF1F7"/>
                </a:solidFill>
                <a:latin typeface="Aptos"/>
              </a:rPr>
              <a:t>30D + reliable 7/14D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2402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6D3F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1554480"/>
            <a:ext cx="1627632" cy="1874519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2792" y="178308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219456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17DFF"/>
                </a:solidFill>
                <a:latin typeface="Aptos"/>
              </a:rPr>
              <a:t>PROMOTE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2792" y="2633472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EBF1F7"/>
                </a:solidFill>
                <a:latin typeface="Aptos"/>
              </a:rPr>
              <a:t>Explicit controlled promotion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069080"/>
            <a:ext cx="9144000" cy="1508760"/>
          </a:xfrm>
          <a:prstGeom prst="roundRect">
            <a:avLst/>
          </a:prstGeom>
          <a:solidFill>
            <a:srgbClr val="143731"/>
          </a:solidFill>
          <a:ln>
            <a:solidFill>
              <a:srgbClr val="317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434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ADA96"/>
                </a:solidFill>
                <a:latin typeface="Aptos"/>
              </a:rPr>
              <a:t>ADAPTIVE RESEARCH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754880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BF1F7"/>
                </a:solidFill>
                <a:latin typeface="Aptos"/>
              </a:rPr>
              <a:t>The carousel repeatedly evaluates candidates, compares them with the current baseline and carries validated candidates into the next research cycle. It is an automated, continuously refreshed research workflow — not a claim of autonomous machine learning.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Git, validation &amp; controlled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Version control, validation evidence and deployment lineage are integrated into the engineering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057400" cy="96012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6D3FF"/>
                </a:solidFill>
                <a:latin typeface="Aptos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0">
                <a:solidFill>
                  <a:srgbClr val="EBF1F7"/>
                </a:solidFill>
                <a:latin typeface="Aptos"/>
              </a:rPr>
              <a:t>Git repository + project synchronization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4911" y="173736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6D3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417320"/>
            <a:ext cx="2057400" cy="96012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62763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4ADA96"/>
                </a:solidFill>
                <a:latin typeface="Aptos"/>
              </a:rP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93852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0">
                <a:solidFill>
                  <a:srgbClr val="EBF1F7"/>
                </a:solidFill>
                <a:latin typeface="Aptos"/>
              </a:rPr>
              <a:t>Regression / self-tests + deployment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1" y="173736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6D3F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417320"/>
            <a:ext cx="2057400" cy="96012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162763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17DFF"/>
                </a:solidFill>
                <a:latin typeface="Apto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93852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0">
                <a:solidFill>
                  <a:srgbClr val="EBF1F7"/>
                </a:solidFill>
                <a:latin typeface="Aptos"/>
              </a:rPr>
              <a:t>State, manifests, checkpoints, diagnostics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1" y="173736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6D3F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417320"/>
            <a:ext cx="2057400" cy="96012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62763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C552"/>
                </a:solidFill>
                <a:latin typeface="Aptos"/>
              </a:rPr>
              <a:t>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193852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0">
                <a:solidFill>
                  <a:srgbClr val="EBF1F7"/>
                </a:solidFill>
                <a:latin typeface="Aptos"/>
              </a:rPr>
              <a:t>Versioned deployment lineage + explicit promotion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743200"/>
            <a:ext cx="5623560" cy="260604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9992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FF"/>
                </a:solidFill>
                <a:latin typeface="Aptos"/>
              </a:rPr>
              <a:t>Engineering controls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383280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69">
                <a:solidFill>
                  <a:srgbClr val="EBF1F7"/>
                </a:solidFill>
                <a:latin typeface="Aptos"/>
              </a:defRPr>
            </a:pPr>
            <a:r>
              <a:t>• Git-based project synchronization and versioned research state.</a:t>
            </a:r>
          </a:p>
          <a:p>
            <a:pPr>
              <a:spcAft>
                <a:spcPts val="500"/>
              </a:spcAft>
              <a:defRPr sz="969">
                <a:solidFill>
                  <a:srgbClr val="EBF1F7"/>
                </a:solidFill>
                <a:latin typeface="Aptos"/>
              </a:defRPr>
            </a:pPr>
            <a:r>
              <a:t>• Regression/self-tests and deployment validation are part of the workflow.</a:t>
            </a:r>
          </a:p>
          <a:p>
            <a:pPr>
              <a:spcAft>
                <a:spcPts val="500"/>
              </a:spcAft>
              <a:defRPr sz="969">
                <a:solidFill>
                  <a:srgbClr val="EBF1F7"/>
                </a:solidFill>
                <a:latin typeface="Aptos"/>
              </a:defRPr>
            </a:pPr>
            <a:r>
              <a:t>• Deployment lineage preserves previous and selected states with evidence.</a:t>
            </a:r>
          </a:p>
          <a:p>
            <a:pPr>
              <a:spcAft>
                <a:spcPts val="500"/>
              </a:spcAft>
              <a:defRPr sz="969">
                <a:solidFill>
                  <a:srgbClr val="EBF1F7"/>
                </a:solidFill>
                <a:latin typeface="Aptos"/>
              </a:defRPr>
            </a:pPr>
            <a:r>
              <a:t>• Research candidates are not deployed implicitly: promotion remains controlled.</a:t>
            </a:r>
          </a:p>
          <a:p>
            <a:pPr>
              <a:spcAft>
                <a:spcPts val="500"/>
              </a:spcAft>
              <a:defRPr sz="969">
                <a:solidFill>
                  <a:srgbClr val="EBF1F7"/>
                </a:solidFill>
                <a:latin typeface="Aptos"/>
              </a:defRPr>
            </a:pPr>
            <a:r>
              <a:t>• Checkpoints and manifests provide traceability for long-running experiments.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743200"/>
            <a:ext cx="3246120" cy="260604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299923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17DFF"/>
                </a:solidFill>
                <a:latin typeface="Aptos"/>
              </a:rPr>
              <a:t>Public repository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349300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EBF1F7"/>
                </a:solidFill>
                <a:latin typeface="Aptos"/>
              </a:rPr>
              <a:t>Trd-cra / AI-Trading-Research-Lab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4005072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u="sng">
                <a:solidFill>
                  <a:srgbClr val="36D3FF"/>
                </a:solidFill>
                <a:latin typeface="Aptos"/>
                <a:hlinkClick r:id="rId2"/>
              </a:rPr>
              <a:t>github.com/Trd-cra/AI-Trading-Research-Lab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4736592"/>
            <a:ext cx="2560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A0AEBE"/>
                </a:solidFill>
                <a:latin typeface="Aptos"/>
              </a:rPr>
              <a:t>Public: workflow, validation and selected evidence. Private: proprietary strategy implementation and credentials.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1164" cy="7559344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1164" cy="50800"/>
          </a:xfrm>
          <a:prstGeom prst="rect">
            <a:avLst/>
          </a:prstGeom>
          <a:solidFill>
            <a:srgbClr val="3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BF1F7"/>
                </a:solidFill>
                <a:latin typeface="Aptos"/>
              </a:rPr>
              <a:t>Contact &amp;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0AEBE"/>
                </a:solidFill>
                <a:latin typeface="Aptos"/>
              </a:rPr>
              <a:t>Senior QA Engineer | AI/ML QA &amp; Automation | Web, API &amp;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28800"/>
            <a:ext cx="4343400" cy="301752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17DFF"/>
                </a:solidFill>
                <a:latin typeface="Aptos"/>
              </a:rPr>
              <a:t>PUBLIC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BF1F7"/>
                </a:solidFill>
                <a:latin typeface="Aptos"/>
              </a:rPr>
              <a:t>AI Trading Research Lab (ATRL)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u="sng">
                <a:solidFill>
                  <a:srgbClr val="36D3FF"/>
                </a:solidFill>
                <a:latin typeface="Aptos"/>
                <a:hlinkClick r:id="rId2"/>
              </a:rPr>
              <a:t>github.com/Trd-cra/AI-Trading-Research-Lab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828800"/>
            <a:ext cx="4343400" cy="3017520"/>
          </a:xfrm>
          <a:prstGeom prst="roundRect">
            <a:avLst/>
          </a:prstGeom>
          <a:solidFill>
            <a:srgbClr val="17202F"/>
          </a:solidFill>
          <a:ln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8968" y="2084831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17DFF"/>
                </a:solidFill>
                <a:latin typeface="Aptos"/>
              </a:rPr>
              <a:t>LINKEDIN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257860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BF1F7"/>
                </a:solidFill>
                <a:latin typeface="Aptos"/>
              </a:rPr>
              <a:t>Professional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3127248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u="sng">
                <a:solidFill>
                  <a:srgbClr val="36D3FF"/>
                </a:solidFill>
                <a:latin typeface="Aptos"/>
                <a:hlinkClick r:id="rId3"/>
              </a:rPr>
              <a:t>linkedin.com/in/alex-k-46448175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30352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0AEBE"/>
                </a:solidFill>
                <a:latin typeface="Aptos"/>
              </a:rPr>
              <a:t>Portfolio focus: AI-assisted QA • research automation • Hyperopt • A/B validation • reproducibility • diagnostics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720547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AEBE"/>
                </a:solidFill>
                <a:latin typeface="Aptos"/>
              </a:rPr>
              <a:t>ATRL  |  AI Trading Research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718718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AEBE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